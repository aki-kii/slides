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発表タイトルは未定</a:t>
            </a:r>
          </a:p>
          <a:p>
            <a:r>
              <a:t>発表タイトル、肩書きの書き方は未決。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入れるかは未定</a:t>
            </a:r>
          </a:p>
          <a:p>
            <a:r>
              <a:t>#93 のスライドと同じ中身。入れるかは未決。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公式の定義: https://docs.aws.amazon.com/ja_jp/cdk/v2/guide/home.html （根拠 10-30 01:30）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根拠 10-30 01:45。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抜き出しは 10-31 09:27 の形。原文の言葉を変えず、つなぎだけ直している。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根拠 10-30 01:53、01:54。宣言型の説明はここで一緒にする。手続き型は話さない（01:50）。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抜き出しの文に無い言葉</a:t>
            </a:r>
          </a:p>
          <a:p>
            <a:r>
              <a:t>10-31 09:27 の抜き出しには「プロビジョニング」が入っていない。この問いかけ（10-30 01:53）とのつながりは確認待ち。図は #93 の iac-diff を流用。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置き場所は未定</a:t>
            </a:r>
          </a:p>
          <a:p>
            <a:r>
              <a:t>タイトルだけを見せて、中身は話さない（10-30 01:11）。置き場所は未決。題は #93 のスライドから。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抜き出しの文は確認待ち</a:t>
            </a:r>
          </a:p>
          <a:p>
            <a:r>
              <a:t>10-31 09:22 で「AWS CloudFormation を通じて」を戻してデプロイフローへつなぐと決めた。09:27 の抜き出しとどちらの文にするかは確認待ち。問いかけは 10-30 15:59。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全体を先に見せる。ここから同じ図の一部を順に強調する。根拠 10-30 16:06、10-31 09:22。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bootstrap を話すかは未定</a:t>
            </a:r>
          </a:p>
          <a:p>
            <a:r>
              <a:t>下書きの案A（bootstrap を話す）の中身。一覧のうち、ルックアップ用ロールと SSM パラメータは今の流れでは図に出てこない。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「ビルド」とは書かない。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「アセットグループ」は発表用の呼び名で、公式の用語ではない。マニフェストは目次の役割。ファイルの大きさでは manifest.json のほうがテンプレートより大きいことがある。synth の時点では zip も Docker イメージも作られない。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*.assets.json の一覧で確かめた。テンプレートも S3 へ上げるファイルとして載っている。Lambda のイメージの ECR push は軽く触れるだけ（下書きの口頭メモ）。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公式は「スタックと、送った変更を比べる」。実際のリソースまで比べるのは drift-aware change set（cdk deploy --revert-drift）のとき。https://docs.aws.amazon.com/AWSCloudFormation/latest/UserGuide/using-cfn-updating-stacks-changesets.html 。リソースの話はこの章でする（10-31 09:39）。ロールバックと承認ゲートは扱わない。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定義文のこの 2 語だけを残す（10-30 16:16）。公式は「コードで」だが、スライドでは「プログラミング言語で」に書き換える（16:15）。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コードの例は仮</a:t>
            </a:r>
          </a:p>
          <a:p>
            <a:r>
              <a:t>根拠 10-31 09:32。公式のベストプラクティスは、CloudFormation の Conditions や Parameters より、言語の機能で合成時に決めるよう勧めている。ただし CloudFormation にも今は Fn::ForEach がある。https://docs.aws.amazon.com/cdk/v2/guide/best-practices.html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入れるかは未定</a:t>
            </a:r>
          </a:p>
          <a:p>
            <a:r>
              <a:t>10-31 09:39 で本人は迷い中。もとは CloudFormation の機能で、テンプレートだけでも使える。https://docs.aws.amazon.com/cdk/api/v2/docs/aws-cdk-lib.custom_resources-readme.html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足すかは確認待ち</a:t>
            </a:r>
          </a:p>
          <a:p>
            <a:r>
              <a:t>Construct Library、CDK CLI、多言語対応を足すかは確認待ち（10-31 09:41）。https://docs.aws.amazon.com/ja_jp/cdk/v2/guide/home.html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この章の主役。抽象化はコンストラクトと 1 つの話（10-31 09:39）。https://docs.aws.amazon.com/cdk/v2/guide/constructs.html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スタックとアプリはコンストラクトの説明の中で触れる（10-31 09:39）。https://docs.aws.amazon.com/cdk/v2/guide/apps.html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コードの例は仮</a:t>
            </a:r>
          </a:p>
          <a:p>
            <a:r>
              <a:t>フレームワークとしての特徴として話す（10-31 09:32）。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口頭で話す 1〜2 個は未定</a:t>
            </a:r>
          </a:p>
          <a:p>
            <a:r>
              <a:t>10-30 16:29 では全部 AWS 公式としていたが、npm の deploy-time-build のリポジトリは tmokmss/deploy-time-build で、作者も tmokmss。個人の OSS と分かるように書いた。16:32 で同じ理由で外した 2 つと同様に、残すかは本人が決める。DockerImageAsset の説明は本人のメモより短くした（各リポジトリへのコピーは DockerImageAsset だけではできないため）。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軽く流す（10-31 09:25）。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口頭で話す 3 つは未定</a:t>
            </a:r>
          </a:p>
          <a:p>
            <a:r>
              <a:t>スライドには全部載せ、口頭では 3 つくらいに絞る（10-30 01:05）。一覧は 10-30 16:24。説明は各リポジトリの説明から書いた。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口頭で話す 3 つは未定</a:t>
            </a:r>
          </a:p>
          <a:p>
            <a:r>
              <a:t>一覧は 10-30 16:24。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仮: 締め方と渡し方は未定</a:t>
            </a:r>
          </a:p>
          <a:p>
            <a:r>
              <a:t>ここは決まっていない。ブリーフの「締め=後藤さん cdkd へ渡す」をもとにした仮の文。cdkd の説明はワークショップの README から。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5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7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8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5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6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kari"/>
          <p:cNvSpPr/>
          <p:nvPr/>
        </p:nvSpPr>
        <p:spPr>
          <a:xfrm>
            <a:off x="9914839" y="182880"/>
            <a:ext cx="1956815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仮：発表タイトルは未定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737360"/>
            <a:ext cx="1033272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JAWS-UG CDK支部 × 東京支部コラボ cdkdハンズオン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377440"/>
            <a:ext cx="10332720" cy="10058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800" b="1">
                <a:solidFill>
                  <a:srgbClr val="2C3E50"/>
                </a:solidFill>
                <a:latin typeface="Noto Sans JP"/>
                <a:ea typeface="Noto Sans JP"/>
              </a:rPr>
              <a:t>AWS CDK とは？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3931920"/>
            <a:ext cx="1033272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2026.11.05（木）</a:t>
            </a:r>
          </a:p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池田 晃尚（@akikii__）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自己紹介</a:t>
            </a:r>
          </a:p>
        </p:txBody>
      </p:sp>
      <p:sp>
        <p:nvSpPr>
          <p:cNvPr id="3" name="kari"/>
          <p:cNvSpPr/>
          <p:nvPr/>
        </p:nvSpPr>
        <p:spPr>
          <a:xfrm>
            <a:off x="10207447" y="1828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仮：入れるかは未定</a:t>
            </a:r>
          </a:p>
        </p:txBody>
      </p:sp>
      <p:pic>
        <p:nvPicPr>
          <p:cNvPr id="4" name="Picture 3" descr="me.jpe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80" y="1737360"/>
            <a:ext cx="3126232" cy="31089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4754880" y="1828800"/>
            <a:ext cx="67665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3000" b="1">
                <a:solidFill>
                  <a:srgbClr val="2C3E50"/>
                </a:solidFill>
                <a:latin typeface="Noto Sans JP"/>
                <a:ea typeface="Noto Sans JP"/>
              </a:rPr>
              <a:t>アキキー | 池田 晃尚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2743200"/>
            <a:ext cx="676656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>株式会社メイツ</a:t>
            </a:r>
          </a:p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>バックエンドエンジニア / SRE</a:t>
            </a:r>
          </a:p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/>
            </a:r>
          </a:p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>推しサービス: AWS CDK</a:t>
            </a:r>
          </a:p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>JAWS-UG CDK支部</a:t>
            </a:r>
          </a:p>
          <a:p>
            <a:pPr algn="l"/>
            <a:r>
              <a:rPr sz="2000" b="0">
                <a:solidFill>
                  <a:srgbClr val="2C3E50"/>
                </a:solidFill>
                <a:latin typeface="Noto Sans JP"/>
                <a:ea typeface="Noto Sans JP"/>
              </a:rPr>
              <a:t>AWS Community Builders（Dev Tools, 2026〜）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導入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AWS CDK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AWS Cloud Development Kit (AWS CDK) は、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コードでクラウドインフラストラクチャを定義し、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AWS CloudFormation を通じてプロビジョニングするための、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オープンソースのソフトウェア開発フレームワークです。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400" b="0">
                <a:solidFill>
                  <a:srgbClr val="6B7684"/>
                </a:solidFill>
                <a:latin typeface="Noto Sans JP"/>
                <a:ea typeface="Noto Sans JP"/>
              </a:rPr>
              <a:t>AWS CDK v2 デベロッパーガイドより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AWS CDK とは？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920240"/>
            <a:ext cx="10241280" cy="2743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C9D0D9"/>
                </a:solidFill>
                <a:latin typeface="Noto Sans JP"/>
                <a:ea typeface="Noto Sans JP"/>
              </a:rPr>
              <a:t>AWS Cloud Development Kit (AWS CDK) は、</a:t>
            </a:r>
          </a:p>
          <a:p>
            <a:pPr algn="l">
              <a:lnSpc>
                <a:spcPct val="135000"/>
              </a:lnSpc>
            </a:pPr>
            <a:r>
              <a:rPr sz="2800" b="1">
                <a:solidFill>
                  <a:srgbClr val="0E8A6E"/>
                </a:solidFill>
                <a:latin typeface="Noto Sans JP"/>
                <a:ea typeface="Noto Sans JP"/>
              </a:rPr>
              <a:t>コードでクラウドインフラストラクチャを定義し、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C9D0D9"/>
                </a:solidFill>
                <a:latin typeface="Noto Sans JP"/>
                <a:ea typeface="Noto Sans JP"/>
              </a:rPr>
              <a:t>AWS CloudFormation を通じてプロビジョニングするための、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C9D0D9"/>
                </a:solidFill>
                <a:latin typeface="Noto Sans JP"/>
                <a:ea typeface="Noto Sans JP"/>
              </a:rPr>
              <a:t>オープンソースの</a:t>
            </a:r>
            <a:r>
              <a:rPr sz="2800" b="1">
                <a:solidFill>
                  <a:srgbClr val="0E8A6E"/>
                </a:solidFill>
                <a:latin typeface="Noto Sans JP"/>
                <a:ea typeface="Noto Sans JP"/>
              </a:rPr>
              <a:t>ソフトウェア開発フレームワークです。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9966960" cy="16459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ct val="130000"/>
              </a:lnSpc>
            </a:pPr>
            <a:r>
              <a:rPr sz="3200" b="1">
                <a:solidFill>
                  <a:srgbClr val="2C3E50"/>
                </a:solidFill>
                <a:latin typeface="Noto Sans JP"/>
                <a:ea typeface="Noto Sans JP"/>
              </a:rPr>
              <a:t>コードでクラウドインフラストラクチャを定義する、ソフトウェア開発フレームワークです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20624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E8A6E"/>
                </a:solidFill>
                <a:latin typeface="Noto Sans JP"/>
                <a:ea typeface="Noto Sans JP"/>
              </a:rPr>
              <a:t>IaC（Infrastructure as Code）の定義です！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定義する → 何を？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E8A6E"/>
                </a:solidFill>
                <a:latin typeface="Noto Sans JP"/>
                <a:ea typeface="Noto Sans JP"/>
              </a:rPr>
              <a:t>あるべき姿を定義する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840480"/>
            <a:ext cx="99669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2C3E50"/>
                </a:solidFill>
                <a:latin typeface="Noto Sans JP"/>
                <a:ea typeface="Noto Sans JP"/>
              </a:rPr>
              <a:t>宣言型: どう作るかではなく、どうなっていてほしいかを書く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プロビジョニングする → どうやって？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あるべき姿との差分をデプロイする</a:t>
            </a:r>
          </a:p>
        </p:txBody>
      </p:sp>
      <p:sp>
        <p:nvSpPr>
          <p:cNvPr id="5" name="kari"/>
          <p:cNvSpPr/>
          <p:nvPr/>
        </p:nvSpPr>
        <p:spPr>
          <a:xfrm>
            <a:off x="9622231" y="182880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仮：抜き出しの文に無い言葉</a:t>
            </a:r>
          </a:p>
        </p:txBody>
      </p:sp>
      <p:pic>
        <p:nvPicPr>
          <p:cNvPr id="6" name="Picture 5" descr="iac-diff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2287" y="1737360"/>
            <a:ext cx="11247120" cy="4114571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IaC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IaC の特徴</a:t>
            </a:r>
          </a:p>
        </p:txBody>
      </p:sp>
      <p:sp>
        <p:nvSpPr>
          <p:cNvPr id="4" name="kari"/>
          <p:cNvSpPr/>
          <p:nvPr/>
        </p:nvSpPr>
        <p:spPr>
          <a:xfrm>
            <a:off x="10207447" y="1828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仮：置き場所は未定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097280" y="201168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再現性の高さ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201168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変更管理ができること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1097280" y="365760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構造を把握しやすい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0" y="3657600"/>
            <a:ext cx="4846320" cy="128016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再利用のしやすさ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kari"/>
          <p:cNvSpPr/>
          <p:nvPr/>
        </p:nvSpPr>
        <p:spPr>
          <a:xfrm>
            <a:off x="9622231" y="182880"/>
            <a:ext cx="2249424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仮：抜き出しの文は確認待ち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1554480"/>
            <a:ext cx="10241280" cy="21945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コードでクラウドインフラストラクチャを定義し、</a:t>
            </a:r>
          </a:p>
          <a:p>
            <a:pPr algn="l">
              <a:lnSpc>
                <a:spcPct val="135000"/>
              </a:lnSpc>
            </a:pPr>
            <a:r>
              <a:rPr sz="2800" b="1">
                <a:solidFill>
                  <a:srgbClr val="0E8A6E"/>
                </a:solidFill>
                <a:latin typeface="Noto Sans JP"/>
                <a:ea typeface="Noto Sans JP"/>
              </a:rPr>
              <a:t>AWS CloudFormation を通じて</a:t>
            </a: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プロビジョニングするための、</a:t>
            </a:r>
          </a:p>
          <a:p>
            <a:pPr algn="l">
              <a:lnSpc>
                <a:spcPct val="135000"/>
              </a:lnSpc>
            </a:pPr>
            <a:r>
              <a:rPr sz="2800" b="0">
                <a:solidFill>
                  <a:srgbClr val="2C3E50"/>
                </a:solidFill>
                <a:latin typeface="Noto Sans JP"/>
                <a:ea typeface="Noto Sans JP"/>
              </a:rPr>
              <a:t>ソフトウェア開発フレームワークです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438912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2C3E50"/>
                </a:solidFill>
                <a:latin typeface="Noto Sans JP"/>
                <a:ea typeface="Noto Sans JP"/>
              </a:rPr>
              <a:t>CDK は CloudFormation とどう関わってるの？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cdk deploy の中で synth、publish、deploy が順に動く</a:t>
            </a:r>
          </a:p>
        </p:txBody>
      </p:sp>
      <p:pic>
        <p:nvPicPr>
          <p:cNvPr id="5" name="Picture 4" descr="deploy-flow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CDK Bootstrap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デプロイに使うものを先に作っておく</a:t>
            </a:r>
          </a:p>
        </p:txBody>
      </p:sp>
      <p:sp>
        <p:nvSpPr>
          <p:cNvPr id="5" name="kari"/>
          <p:cNvSpPr/>
          <p:nvPr/>
        </p:nvSpPr>
        <p:spPr>
          <a:xfrm>
            <a:off x="8744407" y="182880"/>
            <a:ext cx="312724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仮：bootstrap を話すかは未定</a:t>
            </a:r>
          </a:p>
        </p:txBody>
      </p:sp>
      <p:pic>
        <p:nvPicPr>
          <p:cNvPr id="6" name="Picture 5" descr="deploy-flow-bootstrap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synth（シンセサイズ）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ソースコードをシンセサイズする</a:t>
            </a:r>
          </a:p>
        </p:txBody>
      </p:sp>
      <p:pic>
        <p:nvPicPr>
          <p:cNvPr id="5" name="Picture 4" descr="deploy-flow-synt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アセットグループ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出力はテンプレートとそれ以外のファイル。いちばん大事なのはテンプレート。公式の呼び名は cloud assembly（cdk.out）</a:t>
            </a:r>
          </a:p>
        </p:txBody>
      </p:sp>
      <p:pic>
        <p:nvPicPr>
          <p:cNvPr id="5" name="Picture 4" descr="deploy-flow-asset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パブリッシュ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アセットとして S3 バケットと ECR リポジトリへ上げる。上げるのはテンプレートとアセットで、マニフェストは上げない</a:t>
            </a:r>
          </a:p>
        </p:txBody>
      </p:sp>
      <p:pic>
        <p:nvPicPr>
          <p:cNvPr id="5" name="Picture 4" descr="deploy-flow-publish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デプロイフロー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デプロイ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新しいテンプレートとスタックの状態を比べて変更セットを作り、確認してスタックに反映すると AWS リソースが作られる。実際のリソースを見に行くわけではない</a:t>
            </a:r>
          </a:p>
        </p:txBody>
      </p:sp>
      <p:pic>
        <p:nvPicPr>
          <p:cNvPr id="5" name="Picture 4" descr="deploy-flow-deplo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04722" y="1600200"/>
            <a:ext cx="10382250" cy="498348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097280" y="228600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プログラミング言語で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4747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400" b="1">
                <a:solidFill>
                  <a:srgbClr val="0E8A6E"/>
                </a:solidFill>
                <a:latin typeface="Noto Sans JP"/>
                <a:ea typeface="Noto Sans JP"/>
              </a:rPr>
              <a:t>フレームワーク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5669280"/>
            <a:ext cx="996696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400" b="0">
                <a:solidFill>
                  <a:srgbClr val="6B7684"/>
                </a:solidFill>
                <a:latin typeface="Noto Sans JP"/>
                <a:ea typeface="Noto Sans JP"/>
              </a:rPr>
              <a:t>公式の定義では「コードで」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ループとパラメータ化</a:t>
            </a:r>
          </a:p>
        </p:txBody>
      </p:sp>
      <p:sp>
        <p:nvSpPr>
          <p:cNvPr id="4" name="kari"/>
          <p:cNvSpPr/>
          <p:nvPr/>
        </p:nvSpPr>
        <p:spPr>
          <a:xfrm>
            <a:off x="10207447" y="1828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仮：コードの例は仮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1463040"/>
            <a:ext cx="6400800" cy="3108960"/>
          </a:xfrm>
          <a:prstGeom prst="roundRect">
            <a:avLst>
              <a:gd name="adj" fmla="val 3529"/>
            </a:avLst>
          </a:prstGeom>
          <a:solidFill>
            <a:srgbClr val="F5F7F9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const stages = ['dev', 'stg', 'prod'];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/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for (const stage of stages) {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  new ApiStack(app, `Api-${stage}`, {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    memorySize: memoryOf(stage),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  });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589520" y="1737360"/>
            <a:ext cx="4023360" cy="2560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同じものを環境の数だけ作る</a:t>
            </a:r>
          </a:p>
          <a:p>
            <a:pPr algn="l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/>
            </a:r>
          </a:p>
          <a:p>
            <a:pPr algn="l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違いは引数で渡す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5029200"/>
            <a:ext cx="10881360" cy="8229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684"/>
                </a:solidFill>
                <a:latin typeface="Noto Sans JP"/>
                <a:ea typeface="Noto Sans JP"/>
              </a:rPr>
              <a:t>CloudFormation にも Fn::ForEach はあるが、使える値や操作はプログラミング言語のほうがずっと多い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カスタムリソース</a:t>
            </a:r>
          </a:p>
        </p:txBody>
      </p:sp>
      <p:sp>
        <p:nvSpPr>
          <p:cNvPr id="4" name="kari"/>
          <p:cNvSpPr/>
          <p:nvPr/>
        </p:nvSpPr>
        <p:spPr>
          <a:xfrm>
            <a:off x="10207447" y="1828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仮：入れるかは未定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1737360"/>
            <a:ext cx="99669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600" b="1">
                <a:solidFill>
                  <a:srgbClr val="2C3E50"/>
                </a:solidFill>
                <a:latin typeface="Noto Sans JP"/>
                <a:ea typeface="Noto Sans JP"/>
              </a:rPr>
              <a:t>CloudFormation にない操作を、デプロイのときに自分のコードで動かす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1097280" y="2926080"/>
            <a:ext cx="484632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200" b="1">
                <a:solidFill>
                  <a:srgbClr val="2C3E50"/>
                </a:solidFill>
                <a:latin typeface="Noto Sans JP"/>
                <a:ea typeface="Noto Sans JP"/>
              </a:rPr>
              <a:t>AwsCustomResource</a:t>
            </a:r>
          </a:p>
          <a:p>
            <a:pPr algn="ctr"/>
            <a:r>
              <a:rPr sz="2200" b="0">
                <a:solidFill>
                  <a:srgbClr val="6B7684"/>
                </a:solidFill>
                <a:latin typeface="Noto Sans JP"/>
                <a:ea typeface="Noto Sans JP"/>
              </a:rPr>
              <a:t>API を 1 回呼ぶだけなら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2926080"/>
            <a:ext cx="484632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200" b="1">
                <a:solidFill>
                  <a:srgbClr val="2C3E50"/>
                </a:solidFill>
                <a:latin typeface="Noto Sans JP"/>
                <a:ea typeface="Noto Sans JP"/>
              </a:rPr>
              <a:t>Provider framework</a:t>
            </a:r>
          </a:p>
          <a:p>
            <a:pPr algn="ctr"/>
            <a:r>
              <a:rPr sz="2200" b="0">
                <a:solidFill>
                  <a:srgbClr val="6B7684"/>
                </a:solidFill>
                <a:latin typeface="Noto Sans JP"/>
                <a:ea typeface="Noto Sans JP"/>
              </a:rPr>
              <a:t>自分で処理を書くなら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97280" y="5120640"/>
            <a:ext cx="996696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0">
                <a:solidFill>
                  <a:srgbClr val="6B7684"/>
                </a:solidFill>
                <a:latin typeface="Noto Sans JP"/>
                <a:ea typeface="Noto Sans JP"/>
              </a:rPr>
              <a:t>もとは CloudFormation の機能。CDK だと簡単に書ける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AWS CDK のつくり</a:t>
            </a:r>
          </a:p>
        </p:txBody>
      </p:sp>
      <p:sp>
        <p:nvSpPr>
          <p:cNvPr id="4" name="kari"/>
          <p:cNvSpPr/>
          <p:nvPr/>
        </p:nvSpPr>
        <p:spPr>
          <a:xfrm>
            <a:off x="10061143" y="182880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仮：足すかは確認待ち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Construct Library</a:t>
            </a:r>
          </a:p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AWS が用意した部品の集まり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43484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CDK CLI</a:t>
            </a:r>
          </a:p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cdk deploy などのコマンド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046720" y="1828800"/>
            <a:ext cx="3337560" cy="2286000"/>
          </a:xfrm>
          <a:prstGeom prst="roundRect">
            <a:avLst>
              <a:gd name="adj" fmla="val 4800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6 つの言語</a:t>
            </a:r>
          </a:p>
          <a:p>
            <a:pPr algn="ctr"/>
            <a:r>
              <a:rPr sz="2000" b="0">
                <a:solidFill>
                  <a:srgbClr val="6B7684"/>
                </a:solidFill>
                <a:latin typeface="Noto Sans JP"/>
                <a:ea typeface="Noto Sans JP"/>
              </a:rPr>
              <a:t>TypeScript、JavaScript、Python、Java、C#、Go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コンストラクト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042415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600" b="0">
                <a:solidFill>
                  <a:srgbClr val="6B7684"/>
                </a:solidFill>
                <a:latin typeface="Noto Sans JP"/>
                <a:ea typeface="Noto Sans JP"/>
              </a:rPr>
              <a:t>レベルが上がるほど抽象化も上がる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3749039"/>
            <a:ext cx="3246120" cy="2103120"/>
          </a:xfrm>
          <a:prstGeom prst="roundRect">
            <a:avLst>
              <a:gd name="adj" fmla="val 5217"/>
            </a:avLst>
          </a:prstGeom>
          <a:solidFill>
            <a:srgbClr val="FFFFFF"/>
          </a:solidFill>
          <a:ln w="25400">
            <a:solidFill>
              <a:srgbClr val="0E8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05840" y="3886200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E8A6E"/>
                </a:solidFill>
                <a:latin typeface="Noto Sans JP"/>
                <a:ea typeface="Noto Sans JP"/>
              </a:rPr>
              <a:t>L1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05840" y="4526279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CloudFormation のリソースそのまま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05840" y="521207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684"/>
                </a:solidFill>
                <a:latin typeface="Fira Code"/>
                <a:ea typeface="Fira Code"/>
              </a:rPr>
              <a:t>CfnBucket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480560" y="3063239"/>
            <a:ext cx="3246120" cy="2788920"/>
          </a:xfrm>
          <a:prstGeom prst="roundRect">
            <a:avLst>
              <a:gd name="adj" fmla="val 3934"/>
            </a:avLst>
          </a:prstGeom>
          <a:solidFill>
            <a:srgbClr val="FFFFFF"/>
          </a:solidFill>
          <a:ln w="25400">
            <a:solidFill>
              <a:srgbClr val="0E8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663440" y="320039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E8A6E"/>
                </a:solidFill>
                <a:latin typeface="Noto Sans JP"/>
                <a:ea typeface="Noto Sans JP"/>
              </a:rPr>
              <a:t>L2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663440" y="3840479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安全な初期値つき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663440" y="452627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684"/>
                </a:solidFill>
                <a:latin typeface="Fira Code"/>
                <a:ea typeface="Fira Code"/>
              </a:rPr>
              <a:t>s3.Bucket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138160" y="2377439"/>
            <a:ext cx="3246120" cy="3474720"/>
          </a:xfrm>
          <a:prstGeom prst="roundRect">
            <a:avLst>
              <a:gd name="adj" fmla="val 3380"/>
            </a:avLst>
          </a:prstGeom>
          <a:solidFill>
            <a:srgbClr val="E9F5F1"/>
          </a:solidFill>
          <a:ln w="25400">
            <a:solidFill>
              <a:srgbClr val="0E8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0" y="251459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3000" b="1">
                <a:solidFill>
                  <a:srgbClr val="0E8A6E"/>
                </a:solidFill>
                <a:latin typeface="Noto Sans JP"/>
                <a:ea typeface="Noto Sans JP"/>
              </a:rPr>
              <a:t>L3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21040" y="3154679"/>
            <a:ext cx="2880360" cy="7315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複数のリソースの構成一式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21040" y="3840479"/>
            <a:ext cx="288036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1300" b="0">
                <a:solidFill>
                  <a:srgbClr val="6B7684"/>
                </a:solidFill>
                <a:latin typeface="Fira Code"/>
                <a:ea typeface="Fira Code"/>
              </a:rPr>
              <a:t>ApplicationLoad</a:t>
            </a:r>
          </a:p>
          <a:p>
            <a:pPr algn="ctr"/>
            <a:r>
              <a:rPr sz="1300" b="0">
                <a:solidFill>
                  <a:srgbClr val="6B7684"/>
                </a:solidFill>
                <a:latin typeface="Fira Code"/>
                <a:ea typeface="Fira Code"/>
              </a:rPr>
              <a:t>BalancedFargateService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アプリもスタックもコンストラクト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1828800" y="1463040"/>
            <a:ext cx="8503920" cy="4480560"/>
          </a:xfrm>
          <a:prstGeom prst="roundRect">
            <a:avLst>
              <a:gd name="adj" fmla="val 2448"/>
            </a:avLst>
          </a:prstGeom>
          <a:solidFill>
            <a:srgbClr val="E9F5F1"/>
          </a:solidFill>
          <a:ln w="25400">
            <a:solidFill>
              <a:srgbClr val="0E8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2103120" y="160020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0E8A6E"/>
                </a:solidFill>
                <a:latin typeface="Noto Sans JP"/>
                <a:ea typeface="Noto Sans JP"/>
              </a:rPr>
              <a:t>アプリ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377440" y="2194560"/>
            <a:ext cx="7406640" cy="3383280"/>
          </a:xfrm>
          <a:prstGeom prst="roundRect">
            <a:avLst>
              <a:gd name="adj" fmla="val 3243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2651760" y="2331720"/>
            <a:ext cx="3657600" cy="4572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200" b="1">
                <a:solidFill>
                  <a:srgbClr val="2C3E50"/>
                </a:solidFill>
                <a:latin typeface="Noto Sans JP"/>
                <a:ea typeface="Noto Sans JP"/>
              </a:rPr>
              <a:t>スタック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2743200" y="3154680"/>
            <a:ext cx="210312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1600" b="1">
                <a:solidFill>
                  <a:srgbClr val="2C3E50"/>
                </a:solidFill>
                <a:latin typeface="Noto Sans JP"/>
                <a:ea typeface="Noto Sans JP"/>
              </a:rPr>
              <a:t>コンストラクト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0" y="3154680"/>
            <a:ext cx="210312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1600" b="1">
                <a:solidFill>
                  <a:srgbClr val="2C3E50"/>
                </a:solidFill>
                <a:latin typeface="Noto Sans JP"/>
                <a:ea typeface="Noto Sans JP"/>
              </a:rPr>
              <a:t>コンストラクト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0" y="3154680"/>
            <a:ext cx="210312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1600" b="1">
                <a:solidFill>
                  <a:srgbClr val="2C3E50"/>
                </a:solidFill>
                <a:latin typeface="Noto Sans JP"/>
                <a:ea typeface="Noto Sans JP"/>
              </a:rPr>
              <a:t>コンストラクト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条件分岐</a:t>
            </a:r>
          </a:p>
        </p:txBody>
      </p:sp>
      <p:sp>
        <p:nvSpPr>
          <p:cNvPr id="4" name="kari"/>
          <p:cNvSpPr/>
          <p:nvPr/>
        </p:nvSpPr>
        <p:spPr>
          <a:xfrm>
            <a:off x="10207447" y="182880"/>
            <a:ext cx="166420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仮：コードの例は仮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1828800" y="1645920"/>
            <a:ext cx="8503920" cy="2743200"/>
          </a:xfrm>
          <a:prstGeom prst="roundRect">
            <a:avLst>
              <a:gd name="adj" fmla="val 4000"/>
            </a:avLst>
          </a:prstGeom>
          <a:solidFill>
            <a:srgbClr val="F5F7F9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228600" rIns="228600" tIns="0" bIns="0"/>
          <a:lstStyle/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if (stage === 'prod') {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  new MonitoringStack(app, 'Monitoring');</a:t>
            </a:r>
          </a:p>
          <a:p>
            <a:pPr algn="l"/>
            <a:r>
              <a:rPr sz="1500" b="0">
                <a:solidFill>
                  <a:srgbClr val="2C3E50"/>
                </a:solidFill>
                <a:latin typeface="Fira Code"/>
                <a:ea typeface="Fira Code"/>
              </a:rPr>
              <a:t>}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0" y="4846320"/>
            <a:ext cx="850392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400" b="1">
                <a:solidFill>
                  <a:srgbClr val="2C3E50"/>
                </a:solidFill>
                <a:latin typeface="Noto Sans JP"/>
                <a:ea typeface="Noto Sans JP"/>
              </a:rPr>
              <a:t>環境ごとの違いを if でそのまま書ける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プログラミング言語とフレームワーク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好きな CDK コンストラクト</a:t>
            </a:r>
          </a:p>
        </p:txBody>
      </p:sp>
      <p:sp>
        <p:nvSpPr>
          <p:cNvPr id="4" name="kari"/>
          <p:cNvSpPr/>
          <p:nvPr/>
        </p:nvSpPr>
        <p:spPr>
          <a:xfrm>
            <a:off x="9183319" y="182880"/>
            <a:ext cx="2688336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仮：口頭で話す 1〜2 個は未定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822960" y="1463040"/>
            <a:ext cx="1051560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DockerImageAsset</a:t>
            </a:r>
          </a:p>
          <a:p>
            <a:pPr algn="l"/>
            <a:r>
              <a:rPr sz="1700" b="0">
                <a:solidFill>
                  <a:srgbClr val="6B7684"/>
                </a:solidFill>
                <a:latin typeface="Noto Sans JP"/>
                <a:ea typeface="Noto Sans JP"/>
              </a:rPr>
              <a:t>ビルドしたコンテナイメージを CDK Toolkit の ECR リポジトリに置く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22960" y="2560320"/>
            <a:ext cx="1051560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S3Deployment</a:t>
            </a:r>
          </a:p>
          <a:p>
            <a:pPr algn="l"/>
            <a:r>
              <a:rPr sz="1700" b="0">
                <a:solidFill>
                  <a:srgbClr val="6B7684"/>
                </a:solidFill>
                <a:latin typeface="Noto Sans JP"/>
                <a:ea typeface="Noto Sans JP"/>
              </a:rPr>
              <a:t>静的サイトのデプロイをいい感じにして、CloudFront のキャッシュの無効化までしてくれる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22960" y="3657600"/>
            <a:ext cx="1051560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NAT インスタンスのコンストラクト</a:t>
            </a:r>
          </a:p>
          <a:p>
            <a:pPr algn="l"/>
            <a:r>
              <a:rPr sz="1700" b="0">
                <a:solidFill>
                  <a:srgbClr val="6B7684"/>
                </a:solidFill>
                <a:latin typeface="Noto Sans JP"/>
                <a:ea typeface="Noto Sans JP"/>
              </a:rPr>
              <a:t>NAT インスタンスを構築する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4754879"/>
            <a:ext cx="10515600" cy="960120"/>
          </a:xfrm>
          <a:prstGeom prst="roundRect">
            <a:avLst>
              <a:gd name="adj" fmla="val 11428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DeployTimeBuild（個人の OSS）</a:t>
            </a:r>
          </a:p>
          <a:p>
            <a:pPr algn="l"/>
            <a:r>
              <a:rPr sz="1700" b="0">
                <a:solidFill>
                  <a:srgbClr val="6B7684"/>
                </a:solidFill>
                <a:latin typeface="Noto Sans JP"/>
                <a:ea typeface="Noto Sans JP"/>
              </a:rPr>
              <a:t>tmokmss さんのコンストラクト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オープンソース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AWS CDK は OSS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2377440"/>
            <a:ext cx="3108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AWS CDK は OSS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840480" y="3246120"/>
            <a:ext cx="731520" cy="0"/>
          </a:xfrm>
          <a:prstGeom prst="line">
            <a:avLst/>
          </a:prstGeom>
          <a:ln w="31750">
            <a:solidFill>
              <a:srgbClr val="2C3E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Rounded Rectangle 5"/>
          <p:cNvSpPr/>
          <p:nvPr/>
        </p:nvSpPr>
        <p:spPr>
          <a:xfrm>
            <a:off x="4572000" y="2377440"/>
            <a:ext cx="3108960" cy="1737360"/>
          </a:xfrm>
          <a:prstGeom prst="roundRect">
            <a:avLst>
              <a:gd name="adj" fmla="val 6315"/>
            </a:avLst>
          </a:prstGeom>
          <a:solidFill>
            <a:srgbClr val="FFFFFF"/>
          </a:solidFill>
          <a:ln w="25400">
            <a:solidFill>
              <a:srgbClr val="C9D0D9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外からのコントリビュートを受け付けている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7680960" y="3246120"/>
            <a:ext cx="731520" cy="0"/>
          </a:xfrm>
          <a:prstGeom prst="line">
            <a:avLst/>
          </a:prstGeom>
          <a:ln w="31750">
            <a:solidFill>
              <a:srgbClr val="2C3E50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Rounded Rectangle 7"/>
          <p:cNvSpPr/>
          <p:nvPr/>
        </p:nvSpPr>
        <p:spPr>
          <a:xfrm>
            <a:off x="8412480" y="2377440"/>
            <a:ext cx="3108960" cy="1737360"/>
          </a:xfrm>
          <a:prstGeom prst="roundRect">
            <a:avLst>
              <a:gd name="adj" fmla="val 6315"/>
            </a:avLst>
          </a:prstGeom>
          <a:solidFill>
            <a:srgbClr val="E9F5F1"/>
          </a:solidFill>
          <a:ln w="25400">
            <a:solidFill>
              <a:srgbClr val="0E8A6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square" lIns="109728" rIns="109728" tIns="0" bIns="0"/>
          <a:lstStyle/>
          <a:p>
            <a:pPr algn="ctr"/>
            <a:r>
              <a:rPr sz="2000" b="1">
                <a:solidFill>
                  <a:srgbClr val="2C3E50"/>
                </a:solidFill>
                <a:latin typeface="Noto Sans JP"/>
                <a:ea typeface="Noto Sans JP"/>
              </a:rPr>
              <a:t>良いコンストラクトが作られていく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オープンソース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関連する OSS（公式側）</a:t>
            </a:r>
          </a:p>
        </p:txBody>
      </p:sp>
      <p:sp>
        <p:nvSpPr>
          <p:cNvPr id="4" name="kari"/>
          <p:cNvSpPr/>
          <p:nvPr/>
        </p:nvSpPr>
        <p:spPr>
          <a:xfrm>
            <a:off x="9475927" y="18288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仮：口頭で話す 3 つは未定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32588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BLEA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59105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安全なベースライン環境を作る CDK テンプレート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029967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cdk-nag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2951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ルールで CDK アプリを確かめる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73405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jsii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29992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CDK を TypeScript 以外の言語から使えるようにする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43814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cdk-from-cfn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703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CloudFormation テンプレートを CDK のコードに変換する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42232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cdk8s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4074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Kubernetes のアプリをコードで定義する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46320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AWS Solutions Constructs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111496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検証済みの構成のコンストラクト集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50408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700" b="1">
                <a:solidFill>
                  <a:srgbClr val="2C3E50"/>
                </a:solidFill>
                <a:latin typeface="Noto Sans JP"/>
                <a:ea typeface="Noto Sans JP"/>
              </a:rPr>
              <a:t>cdk-monitoring-constructs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5815584"/>
            <a:ext cx="105156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0">
                <a:solidFill>
                  <a:srgbClr val="6B7684"/>
                </a:solidFill>
                <a:latin typeface="Noto Sans JP"/>
                <a:ea typeface="Noto Sans JP"/>
              </a:rPr>
              <a:t>監視を簡単に作るコンストラクト集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オープンソース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502920"/>
            <a:ext cx="11064240" cy="54864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2800" b="1">
                <a:solidFill>
                  <a:srgbClr val="2C3E50"/>
                </a:solidFill>
                <a:latin typeface="Noto Sans JP"/>
                <a:ea typeface="Noto Sans JP"/>
              </a:rPr>
              <a:t>関連する OSS（日本・海外）</a:t>
            </a:r>
          </a:p>
        </p:txBody>
      </p:sp>
      <p:sp>
        <p:nvSpPr>
          <p:cNvPr id="4" name="kari"/>
          <p:cNvSpPr/>
          <p:nvPr/>
        </p:nvSpPr>
        <p:spPr>
          <a:xfrm>
            <a:off x="9475927" y="182880"/>
            <a:ext cx="2395728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仮：口頭で話す 3 つは未定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1188720"/>
            <a:ext cx="594360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8A6E"/>
                </a:solidFill>
                <a:latin typeface="Noto Sans JP"/>
                <a:ea typeface="Noto Sans JP"/>
              </a:rPr>
              <a:t>日本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6459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cdkd（後藤さん）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1911095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CloudFormation を通さず AWS SDK を直接呼ぶ CDK CLI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cdk-real-drift（後藤さん）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264261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テンプレートに書いていないプロパティまでドリフトを検出する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310896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awscdk-lint（山梨さん）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337413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CDK 用のリントのプラグイン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60" y="384048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cdk-preflight（くらいやーさん）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60" y="410565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デプロイ時の失敗を synth の時点で見つける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22960" y="457200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cfn-exec-policy（くらいやーさん）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22960" y="483717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CloudFormation 実行ロールを最小権限にする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5303520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cfn-idle-cost（くらいやーさん）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568696"/>
            <a:ext cx="612648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アクセスがなくてもかかる月額を出す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406640" y="1188720"/>
            <a:ext cx="4206240" cy="36576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800" b="1">
                <a:solidFill>
                  <a:srgbClr val="0E8A6E"/>
                </a:solidFill>
                <a:latin typeface="Noto Sans JP"/>
                <a:ea typeface="Noto Sans JP"/>
              </a:rPr>
              <a:t>海外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164592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projen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1911095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プロジェクトの設定をコードで管理する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237744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cdk-dia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406640" y="264261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構成図を自動で作る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406640" y="3108960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500" b="1">
                <a:solidFill>
                  <a:srgbClr val="2C3E50"/>
                </a:solidFill>
                <a:latin typeface="Noto Sans JP"/>
                <a:ea typeface="Noto Sans JP"/>
              </a:rPr>
              <a:t>awesome-cdk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3374136"/>
            <a:ext cx="420624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0">
                <a:solidFill>
                  <a:srgbClr val="6B7684"/>
                </a:solidFill>
                <a:latin typeface="Noto Sans JP"/>
                <a:ea typeface="Noto Sans JP"/>
              </a:rPr>
              <a:t>CDK 関連の OSS や記事のまとめ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56032"/>
            <a:ext cx="7315200" cy="27432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/>
            <a:r>
              <a:rPr sz="1300" b="1">
                <a:solidFill>
                  <a:srgbClr val="0E8A6E"/>
                </a:solidFill>
                <a:latin typeface="Noto Sans JP"/>
                <a:ea typeface="Noto Sans JP"/>
              </a:rPr>
              <a:t>締め</a:t>
            </a:r>
          </a:p>
        </p:txBody>
      </p:sp>
      <p:sp>
        <p:nvSpPr>
          <p:cNvPr id="3" name="kari"/>
          <p:cNvSpPr/>
          <p:nvPr/>
        </p:nvSpPr>
        <p:spPr>
          <a:xfrm>
            <a:off x="9768535" y="182880"/>
            <a:ext cx="2103120" cy="292608"/>
          </a:xfrm>
          <a:prstGeom prst="roundRect">
            <a:avLst>
              <a:gd name="adj" fmla="val 50000"/>
            </a:avLst>
          </a:prstGeom>
          <a:solidFill>
            <a:srgbClr val="FDECEE"/>
          </a:solidFill>
          <a:ln w="25400">
            <a:solidFill>
              <a:srgbClr val="DD344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 wrap="none" lIns="109728" rIns="109728" tIns="0" bIns="0"/>
          <a:lstStyle/>
          <a:p>
            <a:pPr algn="ctr"/>
            <a:r>
              <a:rPr sz="1100" b="1">
                <a:solidFill>
                  <a:srgbClr val="DD344C"/>
                </a:solidFill>
                <a:latin typeface="Noto Sans JP"/>
                <a:ea typeface="Noto Sans JP"/>
              </a:rPr>
              <a:t>仮：締め方と渡し方は未定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2103120"/>
            <a:ext cx="9966960" cy="914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4000" b="1">
                <a:solidFill>
                  <a:srgbClr val="2C3E50"/>
                </a:solidFill>
                <a:latin typeface="Noto Sans JP"/>
                <a:ea typeface="Noto Sans JP"/>
              </a:rPr>
              <a:t>ここからは後藤さんの cdkd へ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97280" y="3474720"/>
            <a:ext cx="9966960" cy="64008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/>
            <a:r>
              <a:rPr sz="2200" b="0">
                <a:solidFill>
                  <a:srgbClr val="6B7684"/>
                </a:solidFill>
                <a:latin typeface="Noto Sans JP"/>
                <a:ea typeface="Noto Sans JP"/>
              </a:rPr>
              <a:t>CloudFormation を通さず、AWS SDK を直接呼ぶ CDK CLI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